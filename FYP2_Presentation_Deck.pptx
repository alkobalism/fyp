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Segoe UI"/>
              </a:defRPr>
            </a:pPr>
            <a:r>
              <a:t>PSM 2 FINAL PRESENTATION</a:t>
            </a:r>
          </a:p>
          <a:p>
            <a:pPr>
              <a:spcAft>
                <a:spcPts val="2000"/>
              </a:spcAft>
              <a:defRPr sz="3200" b="1">
                <a:solidFill>
                  <a:srgbClr val="F8FAFC"/>
                </a:solidFill>
                <a:latin typeface="Segoe UI"/>
              </a:defRPr>
            </a:pPr>
            <a:r>
              <a:t>AI-Powered Real-Time Pothole Detection &amp; Risk Assessment for Micro-Mobility</a:t>
            </a:r>
          </a:p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Student: Muhammad Al Ieqbal Nur Haqiemi Bin Abdul Khalid (B032310536)</a:t>
            </a:r>
            <a:br/>
            <a:r>
              <a:t>Supervisor: Ts. Dr. Wan Mohd Ya'akob Wan Bejuri</a:t>
            </a:r>
            <a:br/>
            <a:r>
              <a:t>Faculty of Artificial Intelligence and Cyber Security (FAIX), UTeM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1. INTRODUCTION &amp; PROBLEM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Vulnerabilities in Current Micro-Mobility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EF4444"/>
                </a:solidFill>
              </a:defRPr>
            </a:pPr>
            <a:r>
              <a:t>1. Mechanical Vulnerability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E-scooters use small 8.5" rigid wheels with no suspension. A 2" pothole represents 20% of wheel diameter, sending direct impact forces to rider arms &amp; causing sudden lockup falls.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EA5E9"/>
                </a:solidFill>
              </a:defRPr>
            </a:pPr>
            <a:r>
              <a:t>2. Static Navigation Limits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Standard tools (Google Maps, Waze) provide static route planning but lack real-time localized surface defect warnings, leaving riders unaware of immediate road degradation.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3B82F6"/>
                </a:solidFill>
              </a:defRPr>
            </a:pPr>
            <a:r>
              <a:t>3. Reactive Existing Systems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Current research uses smartphone accelerometers which are purely reactive—logging impact telemetry only AFTER a crash occurs, failing pre-impact avoidance.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2. SYSTEM IMPLEMENTATION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Three-Tier Architecture &amp; High-Speed Edge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Modular Three-Tier Architecture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Presentation Layer: 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  Flutter Live Record Scan HUD, Interactive OpenStreetMap History Tab, &amp; Settings Panel.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Logic &amp; Inference Layer: 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  Asynchronous Dart Isolate executing single-pass YUV frame conversion + INT8 TFLite Interpreter.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Persistence Layer: 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  Local JSON file storage (`rides.json` &amp; `settings.json`) ensuring 100% offline rider privacy.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3B82F6"/>
                </a:solidFill>
              </a:defRPr>
            </a:pPr>
            <a:r>
              <a:t>Single-Pass YUV Stride Sampling (~5ms)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Eliminates 3-pass bitmap memory copies (YUV -&gt; RGB -&gt; Rotate -&gt; Resize).</a:t>
            </a:r>
            <a:br/>
            <a:r>
              <a:t>• Directly samples 416x416 RGB matrix in 1 single pass (~102,000 iterations vs 920,000).</a:t>
            </a:r>
            <a:br/>
            <a:r>
              <a:t>• Keeps `ResolutionPreset.medium` for a sharp HD camera stream preview while running fast INT8 inference (~25ms).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2. SYSTEM IMPLEMENTATION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Kinetic Risk Assessment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400"/>
              </a:spcAft>
              <a:defRPr sz="2000" b="1">
                <a:solidFill>
                  <a:srgbClr val="EF4444"/>
                </a:solidFill>
              </a:defRPr>
            </a:pPr>
            <a:r>
              <a:t>Dynamic Velocity-Scaled Risk Index (RI) Formula</a:t>
            </a:r>
          </a:p>
          <a:p>
            <a:pPr>
              <a:spcAft>
                <a:spcPts val="1400"/>
              </a:spcAft>
              <a:defRPr sz="2200" b="1">
                <a:solidFill>
                  <a:srgbClr val="0EA5E9"/>
                </a:solidFill>
              </a:defRPr>
            </a:pPr>
            <a:r>
              <a:t>RI = (S_detected / S_threshold) * (V_current / V_limit)^2 * 100%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1. Kinetic Energy Scaling: Squaring the velocity ratio (V_current / V_limit)^2 mirrors kinetic energy (E_k = 0.5 * m * v^2), recognizing that hitting a pothole at 20 km/h is 4x more destructive than at 10 km/h.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2. Wheel Constant Calibration: S_threshold calibrates for vehicle geometry (8.5" for e-scooters vs 26" for bicycles).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3. Multi-Sensory Alerting: When Risk Index &gt; 75%, HUD flashes semi-transparent red overlay and triggers variable-frequency audio warning beeps.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3. EXPERIMENTAL RESULTS (CORE FOCUS)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Quantitative Model Evaluation (Table 5.1)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Model Scale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Input Size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mAP@50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mAP50-95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YOLOv8 Nano (INT8 Retrained)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416x416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92.8%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92.2%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95.8%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59.4%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3.1 MB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~25 - 30 ms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YOLOv8 Small (Baseline)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320x320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84.0%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88.0%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92.0%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53.1%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22.4 MB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~45 - 55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YOLOv8 Medium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320x320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82.5%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86.4%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90.7%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51.2%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52.1 MB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~95 - 120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Key Takeaways:</a:t>
            </a:r>
            <a:br/>
            <a:r>
              <a:t>• YOLOv8 Nano INT8 is the overall winner: Highest mAP@50 (95.8%), highest Precision (92.8%), smallest footprint (3.1 MB), and fastest speed (~25 ms).</a:t>
            </a:r>
            <a:br/>
            <a:r>
              <a:t>• Precision increased by +8.8% over baseline, proving false positive suppression!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3. EXPERIMENTAL RESULTS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Training Loss Curves &amp; Evaluation Metrics</a:t>
            </a:r>
          </a:p>
        </p:txBody>
      </p:sp>
      <p:pic>
        <p:nvPicPr>
          <p:cNvPr id="4" name="Picture 3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383280" cy="1691640"/>
          </a:xfrm>
          <a:prstGeom prst="rect">
            <a:avLst/>
          </a:prstGeom>
        </p:spPr>
      </p:pic>
      <p:pic>
        <p:nvPicPr>
          <p:cNvPr id="5" name="Picture 4" descr="confusion_matrix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45920"/>
            <a:ext cx="3383280" cy="2537460"/>
          </a:xfrm>
          <a:prstGeom prst="rect">
            <a:avLst/>
          </a:prstGeom>
        </p:spPr>
      </p:pic>
      <p:pic>
        <p:nvPicPr>
          <p:cNvPr id="6" name="Picture 5" descr="BoxPR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45920"/>
            <a:ext cx="3383280" cy="2255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Left: Training Loss &amp; mAP Curves (60 Epochs) | Center: Normalized Confusion Matrix | Right: Precision-Recall Curve (mAP50 = 0.958)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3. EXPERIMENTAL RESULTS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False Positive Suppression (Hard Negative Mining &amp; Horizon ROI Filter)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EF4444"/>
                </a:solidFill>
              </a:defRPr>
            </a:pPr>
            <a:r>
              <a:t>1. Hard Negative Mining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Integrated 31 unannotated background images (handbags, backpacks, tile floors, clean asphalt) into dataset.</a:t>
            </a:r>
            <a:br/>
            <a:r>
              <a:t>• In YOLO, unannotated images act as explicit negative samples that penalize false positive activations on non-pothole textures.</a:t>
            </a:r>
            <a:br/>
            <a:r>
              <a:t>• Precision increased from 84.0% to 92.8% (+8.8% gain!).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2. Horizon Region-of-Interest (ROI) Masking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Applied ground-plane filter in Flutter app (`yMin &lt; 0.35`).</a:t>
            </a:r>
            <a:br/>
            <a:r>
              <a:t>• Ignores upper 35% of camera frame (chest level, upper room, sky).</a:t>
            </a:r>
            <a:br/>
            <a:r>
              <a:t>• Handbags or clothing held up high are automatically filtered out with 0% false alarm risk!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3. EXPERIMENTAL RESULTS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Detection Distance Optimization (416x416 Resolution)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400"/>
              </a:spcAft>
              <a:defRPr sz="2000" b="1">
                <a:solidFill>
                  <a:srgbClr val="3B82F6"/>
                </a:solidFill>
              </a:defRPr>
            </a:pPr>
            <a:r>
              <a:t>Extending Lookahead Distance to 6–8 Meters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Optical Limitation at 320x320: At 10m distance, a 30cm pothole occupies only 8x8 pixels (too small for reliable YOLO detection).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Resolution Scaling to 416x416: Increases spatial feature pixel density by ~1.7x. Small distant potholes occupy 14x14 pixels, extending reliable lookahead range from 3–4m up to 6–8m ahead.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Resolution-for-Capacity Optimization: Uses higher resolution on lightweight Nano model (3.0M params) without exceeding 30 ms real-time latency threshold!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4. DEMONSTRATION &amp; TESTING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Black-Box Functional Testing (Table 5.2)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Functional Requirement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Expected Outcome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Camera Stream &amp; HUD Initialization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Renders live 30 FPS camera preview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C55E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Local TFLite Model Inference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Draws bounding box with class confidence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C55E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GPS Speed &amp; Risk Index Alerting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Triggers red screen flash &amp; warning beeps &gt;75% risk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C55E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Session Persistence &amp; Map Rendering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Saves ride JSON &amp; plots colored pins on OpenStreetMap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C55E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5. CONCLUSION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Project Contributions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000"/>
              </a:spcAft>
              <a:defRPr sz="2000" b="1">
                <a:solidFill>
                  <a:srgbClr val="0EA5E9"/>
                </a:solidFill>
              </a:defRPr>
            </a:pPr>
            <a:r>
              <a:t>Summary of Accomplishments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1. Academic Contribution: Validated INT8-quantized YOLOv8 edge performance on resource-constrained mobile hardware with 95.8% mAP@50 and 92.8% Precision.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2. Practical Safety Utility: Delivered a fully offline, privacy-preserving Android app with proactive speed-scaled risk warnings for vulnerable road users.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3. Future Work: Expand dataset for multi-class defects (cracks, utility covers), integrate cloud map crowdsourcing, and combine camera vision with accelerometer sensor fusion.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